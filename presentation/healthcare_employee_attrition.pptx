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456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521207" y="548640"/>
            <a:ext cx="310896" cy="128016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2648" y="457200"/>
            <a:ext cx="128016" cy="310896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530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D88B97"/>
                </a:solidFill>
                <a:latin typeface="Arial Rounded MT Bold"/>
              </a:rPr>
              <a:t>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87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 dirty="0">
                <a:solidFill>
                  <a:srgbClr val="000000"/>
                </a:solidFill>
                <a:latin typeface="Aptos"/>
              </a:rPr>
              <a:t>Healthcare Employee Attrition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14600"/>
            <a:ext cx="8531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dirty="0">
                <a:solidFill>
                  <a:srgbClr val="373737"/>
                </a:solidFill>
                <a:latin typeface="Aptos"/>
              </a:rPr>
              <a:t>Identifying the employee groups most at risk of leaving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3401568"/>
            <a:ext cx="342900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11112" y="3401568"/>
            <a:ext cx="342900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97296" y="324612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99D9E"/>
                </a:solidFill>
                <a:latin typeface="Aptos"/>
              </a:rPr>
              <a:t>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50011"/>
            <a:ext cx="8531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latin typeface="Aptos"/>
              </a:rPr>
              <a:t>Kevin </a:t>
            </a:r>
            <a:r>
              <a:rPr sz="2000" b="1" dirty="0" err="1">
                <a:latin typeface="Aptos"/>
              </a:rPr>
              <a:t>Serizawa</a:t>
            </a:r>
            <a:r>
              <a:rPr lang="en-US" sz="2000" b="1" dirty="0" err="1">
                <a:latin typeface="Aptos"/>
              </a:rPr>
              <a:t>・</a:t>
            </a:r>
            <a:r>
              <a:rPr sz="2000" b="1" dirty="0" err="1">
                <a:latin typeface="Aptos"/>
              </a:rPr>
              <a:t>Data</a:t>
            </a:r>
            <a:r>
              <a:rPr sz="2000" b="1" dirty="0">
                <a:latin typeface="Aptos"/>
              </a:rPr>
              <a:t> In Motion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A2E52-821A-D899-E176-05272EC9DFAC}"/>
              </a:ext>
            </a:extLst>
          </p:cNvPr>
          <p:cNvSpPr txBox="1"/>
          <p:nvPr/>
        </p:nvSpPr>
        <p:spPr>
          <a:xfrm>
            <a:off x="9689086" y="6316077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9772"/>
            <a:ext cx="108356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latin typeface="Aptos" panose="020B0004020202020204" pitchFamily="34" charset="0"/>
              </a:rPr>
              <a:t>Employee Attrition Is Concentrated Among a</a:t>
            </a:r>
            <a:r>
              <a:rPr lang="en-US" sz="2200" b="1" dirty="0">
                <a:latin typeface="Aptos" panose="020B0004020202020204" pitchFamily="34" charset="0"/>
              </a:rPr>
              <a:t> </a:t>
            </a:r>
            <a:r>
              <a:rPr sz="2200" b="1" dirty="0">
                <a:latin typeface="Aptos" panose="020B0004020202020204" pitchFamily="34" charset="0"/>
              </a:rPr>
              <a:t>Small, High-Risk Workforce Segment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3246120" cy="3675887"/>
          </a:xfrm>
          <a:prstGeom prst="roundRect">
            <a:avLst/>
          </a:prstGeom>
          <a:solidFill>
            <a:srgbClr val="F4F8F4"/>
          </a:solidFill>
          <a:ln w="762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77639" y="1417320"/>
            <a:ext cx="3703320" cy="3675887"/>
          </a:xfrm>
          <a:prstGeom prst="roundRect">
            <a:avLst/>
          </a:prstGeom>
          <a:solidFill>
            <a:srgbClr val="FDF4F6"/>
          </a:solidFill>
          <a:ln w="762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09560" y="1417320"/>
            <a:ext cx="3749039" cy="3675887"/>
          </a:xfrm>
          <a:prstGeom prst="roundRect">
            <a:avLst/>
          </a:prstGeom>
          <a:solidFill>
            <a:srgbClr val="F3F8FC"/>
          </a:solidFill>
          <a:ln w="762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92582"/>
            <a:ext cx="269748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dirty="0">
                <a:solidFill>
                  <a:srgbClr val="96B196"/>
                </a:solidFill>
                <a:latin typeface="Aptos" panose="020B0004020202020204" pitchFamily="34" charset="0"/>
              </a:rPr>
              <a:t>11.87%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57084"/>
            <a:ext cx="278892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3E3E"/>
                </a:solidFill>
                <a:latin typeface="Aptos" panose="020B0004020202020204" pitchFamily="34" charset="0"/>
              </a:rPr>
              <a:t>Overall Attrition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364992"/>
            <a:ext cx="2240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3E3E"/>
                </a:solidFill>
                <a:latin typeface="Aptos" panose="020B0004020202020204" pitchFamily="34" charset="0"/>
              </a:rPr>
              <a:t>199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767328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3E3E"/>
                </a:solidFill>
                <a:latin typeface="Aptos" panose="020B0004020202020204" pitchFamily="34" charset="0"/>
              </a:rPr>
              <a:t>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51204"/>
            <a:ext cx="24688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3E3E3E"/>
                </a:solidFill>
                <a:latin typeface="Aptos" panose="020B0004020202020204" pitchFamily="34" charset="0"/>
              </a:rPr>
              <a:t>of 1,676 total 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828800"/>
            <a:ext cx="3017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300" b="1" dirty="0">
                <a:solidFill>
                  <a:srgbClr val="BE415B"/>
                </a:solidFill>
                <a:latin typeface="Aptos" panose="020B0004020202020204" pitchFamily="34" charset="0"/>
              </a:rPr>
              <a:t>66.67%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53974"/>
            <a:ext cx="321868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9B2B43"/>
                </a:solidFill>
                <a:latin typeface="Aptos" panose="020B0004020202020204" pitchFamily="34" charset="0"/>
              </a:rPr>
              <a:t>High-Risk Segment Attrition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429000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3E3E"/>
                </a:solidFill>
                <a:latin typeface="Aptos" panose="020B0004020202020204" pitchFamily="34" charset="0"/>
              </a:rPr>
              <a:t>32 of 48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22191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3E3E"/>
                </a:solidFill>
                <a:latin typeface="Aptos" panose="020B0004020202020204" pitchFamily="34" charset="0"/>
              </a:rPr>
              <a:t>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4378636"/>
            <a:ext cx="28346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E3E3E"/>
                </a:solidFill>
                <a:latin typeface="Aptos" panose="020B0004020202020204" pitchFamily="34" charset="0"/>
              </a:rPr>
              <a:t>in this high-risk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826568"/>
            <a:ext cx="312724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3D4B62"/>
                </a:solidFill>
                <a:latin typeface="Aptos" panose="020B0004020202020204" pitchFamily="34" charset="0"/>
              </a:rPr>
              <a:t>Overlapping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75063"/>
            <a:ext cx="2926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000000"/>
                </a:solidFill>
                <a:latin typeface="Aptos" panose="020B0004020202020204" pitchFamily="34" charset="0"/>
              </a:rPr>
              <a:t>Age ≤25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04353"/>
            <a:ext cx="2926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000000"/>
                </a:solidFill>
                <a:latin typeface="Aptos" panose="020B0004020202020204" pitchFamily="34" charset="0"/>
              </a:rPr>
              <a:t>≤1 year at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145018"/>
            <a:ext cx="2926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000000"/>
                </a:solidFill>
                <a:latin typeface="Aptos" panose="020B0004020202020204" pitchFamily="34" charset="0"/>
              </a:rPr>
              <a:t>Monthly income &lt;$3,000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11155680" cy="822960"/>
          </a:xfrm>
          <a:prstGeom prst="roundRect">
            <a:avLst/>
          </a:prstGeom>
          <a:solidFill>
            <a:srgbClr val="F8F7F6"/>
          </a:solidFill>
          <a:ln w="762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9478" y="5558212"/>
            <a:ext cx="1069170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b="1" dirty="0">
                <a:solidFill>
                  <a:srgbClr val="3E3E3E"/>
                </a:solidFill>
                <a:latin typeface="Aptos" panose="020B0004020202020204" pitchFamily="34" charset="0"/>
              </a:rPr>
              <a:t>Only 48 employees meet the 3 characteristics, but they account for </a:t>
            </a:r>
            <a:r>
              <a:rPr b="1" dirty="0">
                <a:solidFill>
                  <a:srgbClr val="9B2B43"/>
                </a:solidFill>
                <a:latin typeface="Aptos" panose="020B0004020202020204" pitchFamily="34" charset="0"/>
              </a:rPr>
              <a:t>16.08%</a:t>
            </a:r>
            <a:r>
              <a:rPr b="1" dirty="0">
                <a:solidFill>
                  <a:srgbClr val="3E3E3E"/>
                </a:solidFill>
                <a:latin typeface="Aptos" panose="020B0004020202020204" pitchFamily="34" charset="0"/>
              </a:rPr>
              <a:t> of all employee departures.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35508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182880"/>
            <a:ext cx="53035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D88B97"/>
                </a:solidFill>
                <a:latin typeface="Arial Rounded MT Bold"/>
              </a:rPr>
              <a:t>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457200"/>
            <a:ext cx="128016" cy="310896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21207" y="548640"/>
            <a:ext cx="310896" cy="128016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096512" y="1188720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9400" y="1188720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42432" y="1033271"/>
            <a:ext cx="62179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>
                <a:solidFill>
                  <a:srgbClr val="499D9E"/>
                </a:solidFill>
                <a:latin typeface="Arial Rounded MT Bold"/>
              </a:rPr>
              <a:t>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" y="118872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dirty="0">
                <a:solidFill>
                  <a:srgbClr val="BE415B"/>
                </a:solidFill>
                <a:latin typeface="Arial Rounded MT Bold"/>
              </a:rPr>
              <a:t>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301752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" y="512064"/>
            <a:ext cx="301752" cy="118872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34646"/>
            <a:ext cx="10756392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latin typeface="Aptos" panose="020B0004020202020204" pitchFamily="34" charset="0"/>
              </a:rPr>
              <a:t>Retention Efforts Should Prioritize Early-Tenure,</a:t>
            </a:r>
            <a:r>
              <a:rPr lang="en-US" sz="2300" b="1" dirty="0">
                <a:latin typeface="Aptos" panose="020B0004020202020204" pitchFamily="34" charset="0"/>
              </a:rPr>
              <a:t> </a:t>
            </a:r>
            <a:r>
              <a:rPr sz="2300" b="1" dirty="0">
                <a:latin typeface="Aptos" panose="020B0004020202020204" pitchFamily="34" charset="0"/>
              </a:rPr>
              <a:t>Younger, Lower-Paid Employees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96512" y="1124712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400" y="1124712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2" y="969264"/>
            <a:ext cx="621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499D9E"/>
                </a:solidFill>
                <a:latin typeface="Arial Rounded MT Bold"/>
              </a:rPr>
              <a:t>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82270"/>
            <a:ext cx="3520440" cy="4069080"/>
          </a:xfrm>
          <a:prstGeom prst="roundRect">
            <a:avLst/>
          </a:prstGeom>
          <a:solidFill>
            <a:srgbClr val="F4F8F4"/>
          </a:solidFill>
          <a:ln w="889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4256" y="1682270"/>
            <a:ext cx="3520440" cy="4069080"/>
          </a:xfrm>
          <a:prstGeom prst="roundRect">
            <a:avLst/>
          </a:prstGeom>
          <a:solidFill>
            <a:srgbClr val="FDF4F6"/>
          </a:solidFill>
          <a:ln w="889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65592" y="1682270"/>
            <a:ext cx="3520440" cy="4069080"/>
          </a:xfrm>
          <a:prstGeom prst="roundRect">
            <a:avLst/>
          </a:prstGeom>
          <a:solidFill>
            <a:srgbClr val="F3F8FC"/>
          </a:solidFill>
          <a:ln w="889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901500"/>
            <a:ext cx="301752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96B196"/>
                </a:solidFill>
                <a:latin typeface="Aptos" panose="020B0004020202020204" pitchFamily="34" charset="0"/>
              </a:rPr>
              <a:t>Strengthen
First-Year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48855"/>
            <a:ext cx="290779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96B196"/>
                </a:solidFill>
                <a:latin typeface="Aptos" panose="020B0004020202020204" pitchFamily="34" charset="0"/>
              </a:rPr>
              <a:t>31.95%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00284"/>
            <a:ext cx="290779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3E3E"/>
                </a:solidFill>
                <a:latin typeface="Aptos" panose="020B0004020202020204" pitchFamily="34" charset="0"/>
              </a:rPr>
              <a:t>0–1 Year Attrition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85500"/>
            <a:ext cx="285292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3E3E"/>
                </a:solidFill>
                <a:latin typeface="Aptos" panose="020B0004020202020204" pitchFamily="34" charset="0"/>
              </a:rPr>
              <a:t>30 / 60 / 90-day check-ins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58062"/>
            <a:ext cx="28529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6262"/>
                </a:solidFill>
                <a:latin typeface="Aptos" panose="020B0004020202020204" pitchFamily="34" charset="0"/>
              </a:rPr>
              <a:t>Structured onboarding
&amp; manager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71602"/>
            <a:ext cx="285292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6262"/>
                </a:solidFill>
                <a:latin typeface="Aptos" panose="020B0004020202020204" pitchFamily="34" charset="0"/>
              </a:rPr>
              <a:t>Early satisfaction pulse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901500"/>
            <a:ext cx="301752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9B2B43"/>
                </a:solidFill>
                <a:latin typeface="Aptos" panose="020B0004020202020204" pitchFamily="34" charset="0"/>
              </a:rPr>
              <a:t>Review Entry-Level
Compensation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648855"/>
            <a:ext cx="290779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BE415B"/>
                </a:solidFill>
                <a:latin typeface="Aptos" panose="020B0004020202020204" pitchFamily="34" charset="0"/>
              </a:rPr>
              <a:t>26.23%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200284"/>
            <a:ext cx="290779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3E3E"/>
                </a:solidFill>
                <a:latin typeface="Aptos" panose="020B0004020202020204" pitchFamily="34" charset="0"/>
              </a:rPr>
              <a:t>&lt;$3,000 Income Attrition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785500"/>
            <a:ext cx="285292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3E3E"/>
                </a:solidFill>
                <a:latin typeface="Aptos" panose="020B0004020202020204" pitchFamily="34" charset="0"/>
              </a:rPr>
              <a:t>Review lower-income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4158062"/>
            <a:ext cx="28529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6262"/>
                </a:solidFill>
                <a:latin typeface="Aptos" panose="020B0004020202020204" pitchFamily="34" charset="0"/>
              </a:rPr>
              <a:t>Benchmark pay &amp;
advancement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771602"/>
            <a:ext cx="285292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6262"/>
                </a:solidFill>
                <a:latin typeface="Aptos" panose="020B0004020202020204" pitchFamily="34" charset="0"/>
              </a:rPr>
              <a:t>Prioritize overlapping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01500"/>
            <a:ext cx="3017520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799FBF"/>
                </a:solidFill>
                <a:latin typeface="Aptos" panose="020B0004020202020204" pitchFamily="34" charset="0"/>
              </a:rPr>
              <a:t>Improve Employee
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648855"/>
            <a:ext cx="290779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99FBF"/>
                </a:solidFill>
                <a:latin typeface="Aptos" panose="020B0004020202020204" pitchFamily="34" charset="0"/>
              </a:rPr>
              <a:t>26.67%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200284"/>
            <a:ext cx="290779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3E3E"/>
                </a:solidFill>
                <a:latin typeface="Aptos" panose="020B0004020202020204" pitchFamily="34" charset="0"/>
              </a:rPr>
              <a:t>Work-Life Balance Level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3785500"/>
            <a:ext cx="285292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3E3E"/>
                </a:solidFill>
                <a:latin typeface="Aptos" panose="020B0004020202020204" pitchFamily="34" charset="0"/>
              </a:rPr>
              <a:t>Track satisfaction &amp;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158062"/>
            <a:ext cx="28529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6262"/>
                </a:solidFill>
                <a:latin typeface="Aptos" panose="020B0004020202020204" pitchFamily="34" charset="0"/>
              </a:rPr>
              <a:t>Strengthen career development
&amp; manager 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4771602"/>
            <a:ext cx="285292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26262"/>
                </a:solidFill>
                <a:latin typeface="Aptos" panose="020B0004020202020204" pitchFamily="34" charset="0"/>
              </a:rPr>
              <a:t>Explore commute flexibility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23DDFD-1025-2673-F22C-D9E8D25308A9}"/>
              </a:ext>
            </a:extLst>
          </p:cNvPr>
          <p:cNvSpPr txBox="1"/>
          <p:nvPr/>
        </p:nvSpPr>
        <p:spPr>
          <a:xfrm>
            <a:off x="9912096" y="656644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7201-A82E-A303-487D-0799541B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473" y="149947"/>
            <a:ext cx="10182992" cy="110681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Attrition Falls Sharply as Employee Tenure Increases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3D6C9-6B1D-A6AB-2C7E-0D60C0FC1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1" y="1674825"/>
            <a:ext cx="8138177" cy="4480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FDFC02-D94A-1D61-D537-14B78B1401E4}"/>
              </a:ext>
            </a:extLst>
          </p:cNvPr>
          <p:cNvSpPr txBox="1"/>
          <p:nvPr/>
        </p:nvSpPr>
        <p:spPr>
          <a:xfrm>
            <a:off x="201168" y="118872"/>
            <a:ext cx="5303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 dirty="0">
                <a:solidFill>
                  <a:srgbClr val="BE415B"/>
                </a:solidFill>
                <a:latin typeface="Arial Rounded MT Bold"/>
              </a:rPr>
              <a:t>♡</a:t>
            </a:r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FA9CE724-CB8F-C98D-13C1-3B0364E37637}"/>
              </a:ext>
            </a:extLst>
          </p:cNvPr>
          <p:cNvSpPr/>
          <p:nvPr/>
        </p:nvSpPr>
        <p:spPr>
          <a:xfrm>
            <a:off x="566928" y="420624"/>
            <a:ext cx="118872" cy="301752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6644802-9EF5-EC6B-357E-E68132ACD636}"/>
              </a:ext>
            </a:extLst>
          </p:cNvPr>
          <p:cNvSpPr/>
          <p:nvPr/>
        </p:nvSpPr>
        <p:spPr>
          <a:xfrm>
            <a:off x="475488" y="512064"/>
            <a:ext cx="301752" cy="118872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2D3AEEBC-E6B7-624B-960C-2FE0E7F20C0E}"/>
              </a:ext>
            </a:extLst>
          </p:cNvPr>
          <p:cNvSpPr/>
          <p:nvPr/>
        </p:nvSpPr>
        <p:spPr>
          <a:xfrm>
            <a:off x="568452" y="1140443"/>
            <a:ext cx="11055096" cy="603504"/>
          </a:xfrm>
          <a:prstGeom prst="roundRect">
            <a:avLst/>
          </a:prstGeom>
          <a:solidFill>
            <a:srgbClr val="F8F7F6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F4F250-C19A-CA3A-3E89-1802183815F7}"/>
              </a:ext>
            </a:extLst>
          </p:cNvPr>
          <p:cNvSpPr txBox="1"/>
          <p:nvPr/>
        </p:nvSpPr>
        <p:spPr>
          <a:xfrm>
            <a:off x="804672" y="1283169"/>
            <a:ext cx="10561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000000"/>
                </a:solidFill>
                <a:latin typeface="Aptos" panose="020B0004020202020204" pitchFamily="34" charset="0"/>
              </a:rPr>
              <a:t>Retention risk is concentrated early: attrition drops below the 11.87% company average after employees reach 4-5 years.</a:t>
            </a:r>
            <a:endParaRPr sz="1500" b="1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DBC68D-5224-FED2-54D5-E00109AA8476}"/>
              </a:ext>
            </a:extLst>
          </p:cNvPr>
          <p:cNvSpPr txBox="1"/>
          <p:nvPr/>
        </p:nvSpPr>
        <p:spPr>
          <a:xfrm>
            <a:off x="9692640" y="6433086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 Rounded MT Bold"/>
              </a:rPr>
              <a:t>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9728" cy="274320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344" y="466344"/>
            <a:ext cx="274320" cy="109728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9529"/>
            <a:ext cx="1046988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dirty="0">
                <a:solidFill>
                  <a:srgbClr val="000000"/>
                </a:solidFill>
                <a:latin typeface="Aptos" panose="020B0004020202020204" pitchFamily="34" charset="0"/>
              </a:rPr>
              <a:t>Attrition Peaks Among Employees Living 21–25 Miles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096512" y="932688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400" y="932688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2" y="768096"/>
            <a:ext cx="621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99D9E"/>
                </a:solidFill>
                <a:latin typeface="Arial Rounded MT Bold"/>
              </a:rPr>
              <a:t>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11055096" cy="603504"/>
          </a:xfrm>
          <a:prstGeom prst="roundRect">
            <a:avLst/>
          </a:prstGeom>
          <a:solidFill>
            <a:srgbClr val="F8F7F6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029" y="1275474"/>
            <a:ext cx="1143216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  <a:latin typeface="Aptos" panose="020B0004020202020204" pitchFamily="34" charset="0"/>
              </a:rPr>
              <a:t>Employees living 21–25 miles from work have a 25.36% attrition rate—more than double the 11.87% company average.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78404" y="1985337"/>
            <a:ext cx="9034887" cy="4460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3EF6D6-4752-4CF6-B2F7-7F5E0A0E6F35}"/>
              </a:ext>
            </a:extLst>
          </p:cNvPr>
          <p:cNvSpPr txBox="1"/>
          <p:nvPr/>
        </p:nvSpPr>
        <p:spPr>
          <a:xfrm>
            <a:off x="9740310" y="644652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 Rounded MT Bold"/>
              </a:rPr>
              <a:t>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9728" cy="274320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344" y="466344"/>
            <a:ext cx="274320" cy="109728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"/>
            <a:ext cx="1046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 dirty="0">
                <a:solidFill>
                  <a:srgbClr val="000000"/>
                </a:solidFill>
                <a:latin typeface="Aptos"/>
              </a:rPr>
              <a:t>Lower-Paid Employees Face Significantly Higher Attrition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96512" y="932688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400" y="932688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2" y="768096"/>
            <a:ext cx="621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99D9E"/>
                </a:solidFill>
                <a:latin typeface="Arial Rounded MT Bold"/>
              </a:rPr>
              <a:t>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11055096" cy="603504"/>
          </a:xfrm>
          <a:prstGeom prst="roundRect">
            <a:avLst/>
          </a:prstGeom>
          <a:solidFill>
            <a:srgbClr val="F8F7F6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225296"/>
            <a:ext cx="10561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dirty="0">
                <a:solidFill>
                  <a:srgbClr val="000000"/>
                </a:solidFill>
                <a:latin typeface="Aptos"/>
              </a:rPr>
              <a:t>Employees earning </a:t>
            </a:r>
            <a:r>
              <a:rPr sz="1500" b="1" dirty="0">
                <a:solidFill>
                  <a:srgbClr val="000000"/>
                </a:solidFill>
                <a:latin typeface="Aptos"/>
              </a:rPr>
              <a:t>under $3,000 per month</a:t>
            </a:r>
            <a:r>
              <a:rPr sz="1500" b="0" dirty="0">
                <a:solidFill>
                  <a:srgbClr val="000000"/>
                </a:solidFill>
                <a:latin typeface="Aptos"/>
              </a:rPr>
              <a:t> have a </a:t>
            </a:r>
            <a:r>
              <a:rPr sz="1500" b="1" dirty="0">
                <a:solidFill>
                  <a:srgbClr val="000000"/>
                </a:solidFill>
                <a:latin typeface="Aptos"/>
              </a:rPr>
              <a:t>26.23% attrition rate</a:t>
            </a:r>
            <a:r>
              <a:rPr sz="1500" b="0" dirty="0">
                <a:solidFill>
                  <a:srgbClr val="000000"/>
                </a:solidFill>
                <a:latin typeface="Aptos"/>
              </a:rPr>
              <a:t> — more than double the company average.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0636" y="1985337"/>
            <a:ext cx="8990423" cy="4460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301DA-5D71-C817-BCBA-D573186A0901}"/>
              </a:ext>
            </a:extLst>
          </p:cNvPr>
          <p:cNvSpPr txBox="1"/>
          <p:nvPr/>
        </p:nvSpPr>
        <p:spPr>
          <a:xfrm>
            <a:off x="9909322" y="6542531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 Rounded MT Bold"/>
              </a:rPr>
              <a:t>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9728" cy="274320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344" y="466344"/>
            <a:ext cx="274320" cy="109728"/>
          </a:xfrm>
          <a:prstGeom prst="roundRect">
            <a:avLst/>
          </a:prstGeom>
          <a:solidFill>
            <a:srgbClr val="76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"/>
            <a:ext cx="1046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000000"/>
                </a:solidFill>
                <a:latin typeface="Aptos"/>
              </a:rPr>
              <a:t>Low Satisfaction and Work-Life Balance Signal Higher Attrition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96512" y="932688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400" y="932688"/>
            <a:ext cx="1444752" cy="16459"/>
          </a:xfrm>
          <a:prstGeom prst="rect">
            <a:avLst/>
          </a:prstGeom>
          <a:solidFill>
            <a:srgbClr val="EEB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2" y="768096"/>
            <a:ext cx="621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99D9E"/>
                </a:solidFill>
                <a:latin typeface="Arial Rounded MT Bold"/>
              </a:rPr>
              <a:t>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11055096" cy="603504"/>
          </a:xfrm>
          <a:prstGeom prst="roundRect">
            <a:avLst/>
          </a:prstGeom>
          <a:solidFill>
            <a:srgbClr val="F8F7F6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Work-Life Balance Level 1 reaches </a:t>
            </a:r>
            <a:r>
              <a:rPr sz="1500" b="1">
                <a:solidFill>
                  <a:srgbClr val="000000"/>
                </a:solidFill>
                <a:latin typeface="Aptos"/>
              </a:rPr>
              <a:t>26.67% attrition</a:t>
            </a:r>
            <a:r>
              <a:rPr sz="1500" b="0">
                <a:solidFill>
                  <a:srgbClr val="000000"/>
                </a:solidFill>
                <a:latin typeface="Aptos"/>
              </a:rPr>
              <a:t> — more than twice the </a:t>
            </a:r>
            <a:r>
              <a:rPr sz="1500" b="1">
                <a:solidFill>
                  <a:srgbClr val="000000"/>
                </a:solidFill>
                <a:latin typeface="Aptos"/>
              </a:rPr>
              <a:t>11.87% company average</a:t>
            </a:r>
            <a:r>
              <a:rPr sz="1500" b="0">
                <a:solidFill>
                  <a:srgbClr val="000000"/>
                </a:solidFill>
                <a:latin typeface="Aptos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0636" y="1996312"/>
            <a:ext cx="8990422" cy="44381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4DE031-AF99-95D0-4019-382366BFEA4A}"/>
              </a:ext>
            </a:extLst>
          </p:cNvPr>
          <p:cNvSpPr txBox="1"/>
          <p:nvPr/>
        </p:nvSpPr>
        <p:spPr>
          <a:xfrm>
            <a:off x="9727310" y="646938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dirty="0">
                <a:solidFill>
                  <a:srgbClr val="799FBF"/>
                </a:solidFill>
                <a:latin typeface="Arial Rounded MT Bold"/>
              </a:rPr>
              <a:t>WATSON HEALTHCARE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307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Attrition Falls Sharply as Employee Tenure Increases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Kevin Serizawa</dc:creator>
  <cp:keywords/>
  <dc:description>generated using python-pptx</dc:description>
  <cp:lastModifiedBy>Kevin Serizawa</cp:lastModifiedBy>
  <cp:revision>2</cp:revision>
  <dcterms:created xsi:type="dcterms:W3CDTF">2013-01-27T09:14:16Z</dcterms:created>
  <dcterms:modified xsi:type="dcterms:W3CDTF">2026-08-22T01:02:13Z</dcterms:modified>
  <cp:category/>
</cp:coreProperties>
</file>